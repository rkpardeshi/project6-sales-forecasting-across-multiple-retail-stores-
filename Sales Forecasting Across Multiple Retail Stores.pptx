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9" r:id="rId4"/>
    <p:sldId id="27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62" r:id="rId13"/>
  </p:sldIdLst>
  <p:sldSz cx="9144000" cy="5143500" type="screen16x9"/>
  <p:notesSz cx="6858000" cy="9144000"/>
  <p:embeddedFontLst>
    <p:embeddedFont>
      <p:font typeface="Comic Sans MS" panose="030F0702030302020204" pitchFamily="66" charset="0"/>
      <p:regular r:id="rId15"/>
      <p:bold r:id="rId16"/>
      <p:italic r:id="rId17"/>
      <p:boldItalic r:id="rId18"/>
    </p:embeddedFont>
    <p:embeddedFont>
      <p:font typeface="Robot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AFCE62-613B-40F8-89B8-084C34D7AFF4}">
  <a:tblStyle styleId="{F8AFCE62-613B-40F8-89B8-084C34D7AF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6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184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753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642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154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915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056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8737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43952e2c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43952e2c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5173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43952e2c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43952e2c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496375" y="1941011"/>
            <a:ext cx="8222100" cy="79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en-US" sz="32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Forecasting Across Multiple Retail Stores.</a:t>
            </a:r>
            <a:endParaRPr sz="32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96375" y="260238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Rakesh Devendrasing Pardeshi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 Hikes IT Solution </a:t>
            </a:r>
            <a:endParaRPr lang="en-US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3626A-38E6-4769-A03A-2DCCB7B7B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8521" y="1925149"/>
            <a:ext cx="8752717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Objective: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000" dirty="0">
                <a:latin typeface="+mn-lt"/>
              </a:rPr>
              <a:t>To develop an accurate predictive model that forecasts sales across multiple retail locations using historical data, seasonal patterns,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000" dirty="0">
                <a:latin typeface="+mn-lt"/>
              </a:rPr>
              <a:t> and external factors.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n-lt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Tools: </a:t>
            </a:r>
            <a:r>
              <a:rPr lang="en-US" sz="1000" dirty="0"/>
              <a:t>The key tools for this project are Pandas, NumPy, scikit-learn, Matplotlib, and Seaborn for data manipulation, modeling, and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000" dirty="0"/>
              <a:t>	visualization, which can be run within a Jupiter Notebook environment.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Techniques Applied:</a:t>
            </a: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IN" sz="1000" dirty="0"/>
              <a:t>Applied neural network architectures (e.g., LSTM, GRU, CNN, or DNN) for building robust predictive models capable of learning complex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000" dirty="0"/>
              <a:t>         patterns from large datasets.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IN" sz="1000" dirty="0"/>
              <a:t>Model Serialization: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IN" sz="1000" dirty="0"/>
              <a:t>Used techniques such as Pickle, </a:t>
            </a:r>
            <a:r>
              <a:rPr lang="en-IN" sz="1000" dirty="0" err="1"/>
              <a:t>Joblib</a:t>
            </a:r>
            <a:r>
              <a:rPr lang="en-IN" sz="1000" dirty="0"/>
              <a:t>, or framework-specific methods (e.g., TensorFlow </a:t>
            </a:r>
            <a:r>
              <a:rPr lang="en-IN" sz="1000" dirty="0" err="1"/>
              <a:t>SavedModel</a:t>
            </a:r>
            <a:r>
              <a:rPr lang="en-IN" sz="1000" dirty="0"/>
              <a:t>, </a:t>
            </a:r>
            <a:r>
              <a:rPr lang="en-IN" sz="1000" dirty="0" err="1"/>
              <a:t>PyTorch</a:t>
            </a:r>
            <a:r>
              <a:rPr lang="en-IN" sz="1000" dirty="0"/>
              <a:t> </a:t>
            </a:r>
            <a:r>
              <a:rPr lang="en-IN" sz="1000" dirty="0" err="1"/>
              <a:t>model.save</a:t>
            </a:r>
            <a:r>
              <a:rPr lang="en-IN" sz="1000" dirty="0"/>
              <a:t>()) to serialize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000" dirty="0"/>
              <a:t>         trained models for deployment and reuse.</a:t>
            </a:r>
          </a:p>
          <a:p>
            <a:pPr marL="6286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IN" sz="1000" dirty="0"/>
              <a:t>  </a:t>
            </a:r>
            <a:r>
              <a:rPr lang="en-IN" sz="1000" dirty="0" err="1"/>
              <a:t>MLflow</a:t>
            </a:r>
            <a:r>
              <a:rPr lang="en-IN" sz="1000" dirty="0"/>
              <a:t> Integration:</a:t>
            </a:r>
          </a:p>
          <a:p>
            <a:pPr marL="628650" lvl="1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IN" sz="1000" dirty="0"/>
              <a:t>Implemented </a:t>
            </a:r>
            <a:r>
              <a:rPr lang="en-IN" sz="1000" dirty="0" err="1"/>
              <a:t>MLflow</a:t>
            </a:r>
            <a:r>
              <a:rPr lang="en-IN" sz="1000" dirty="0"/>
              <a:t> Tracking for logging experiments, parameters, metrics, and </a:t>
            </a:r>
            <a:r>
              <a:rPr lang="en-IN" sz="1000" dirty="0" err="1"/>
              <a:t>artifacts</a:t>
            </a:r>
            <a:r>
              <a:rPr lang="en-IN" sz="1000" dirty="0"/>
              <a:t>, and used </a:t>
            </a:r>
            <a:r>
              <a:rPr lang="en-IN" sz="1000" dirty="0" err="1"/>
              <a:t>MLflow</a:t>
            </a:r>
            <a:r>
              <a:rPr lang="en-IN" sz="1000" dirty="0"/>
              <a:t> Models for model versioning,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000" dirty="0"/>
              <a:t>     packaging, and streamlined deployment.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1109"/>
              </p:ext>
            </p:extLst>
          </p:nvPr>
        </p:nvGraphicFramePr>
        <p:xfrm>
          <a:off x="444958" y="220285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Main Model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sp>
        <p:nvSpPr>
          <p:cNvPr id="3" name="AutoShape 2" descr="blob:https://web.whatsapp.com/a06770d9-09c6-4d01-9d8d-7323be218d02">
            <a:extLst>
              <a:ext uri="{FF2B5EF4-FFF2-40B4-BE49-F238E27FC236}">
                <a16:creationId xmlns:a16="http://schemas.microsoft.com/office/drawing/2014/main" id="{5E4B8197-A9C1-424D-8C96-BDDAC6A0D0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292B88-723E-49E5-B980-925E9908F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29" y="714376"/>
            <a:ext cx="5853052" cy="4288606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44958" y="220285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Distribution of sale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sp>
        <p:nvSpPr>
          <p:cNvPr id="3" name="AutoShape 2" descr="blob:https://web.whatsapp.com/a06770d9-09c6-4d01-9d8d-7323be218d02">
            <a:extLst>
              <a:ext uri="{FF2B5EF4-FFF2-40B4-BE49-F238E27FC236}">
                <a16:creationId xmlns:a16="http://schemas.microsoft.com/office/drawing/2014/main" id="{5E4B8197-A9C1-424D-8C96-BDDAC6A0D0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011FBA-5486-41B6-B876-0C5613B84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04" y="752124"/>
            <a:ext cx="6534192" cy="426396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393022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262572"/>
              </p:ext>
            </p:extLst>
          </p:nvPr>
        </p:nvGraphicFramePr>
        <p:xfrm>
          <a:off x="339213" y="207911"/>
          <a:ext cx="5997677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997677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Distribution of customers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6255A7C-6D16-4400-BAA1-D38B53F77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68" y="701430"/>
            <a:ext cx="6477470" cy="423415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75933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228664"/>
              </p:ext>
            </p:extLst>
          </p:nvPr>
        </p:nvGraphicFramePr>
        <p:xfrm>
          <a:off x="352425" y="175419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Sales vs Customers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4D942CE-F900-43A5-ABE2-7254F449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269" y="693968"/>
            <a:ext cx="5848350" cy="425850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77985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207897"/>
              </p:ext>
            </p:extLst>
          </p:nvPr>
        </p:nvGraphicFramePr>
        <p:xfrm>
          <a:off x="352425" y="175419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Average Sales by Store Type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E7E2E5F-7E22-478A-8EAF-77E125DB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654843"/>
            <a:ext cx="6855619" cy="437665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5677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419815"/>
              </p:ext>
            </p:extLst>
          </p:nvPr>
        </p:nvGraphicFramePr>
        <p:xfrm>
          <a:off x="352425" y="175419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Effect of Promo on Sales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2C783CA-9123-4105-AE82-0113218D5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93" y="696278"/>
            <a:ext cx="5803107" cy="432565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28060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20310"/>
              </p:ext>
            </p:extLst>
          </p:nvPr>
        </p:nvGraphicFramePr>
        <p:xfrm>
          <a:off x="352425" y="175419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Average Monthly Sales Trend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287E134-292C-434E-9130-364120B05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481" y="628419"/>
            <a:ext cx="6488907" cy="433966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907660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452080"/>
              </p:ext>
            </p:extLst>
          </p:nvPr>
        </p:nvGraphicFramePr>
        <p:xfrm>
          <a:off x="352425" y="175419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Sales by Day of Week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FFC48C-7984-4EF6-B78F-64567F83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49" y="647699"/>
            <a:ext cx="6362701" cy="426066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21082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026DE-CE8B-4915-9887-3AA109F1B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735170"/>
              </p:ext>
            </p:extLst>
          </p:nvPr>
        </p:nvGraphicFramePr>
        <p:xfrm>
          <a:off x="352425" y="175419"/>
          <a:ext cx="6096000" cy="370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2262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Correlation Heatmap (10% Sample of Data) 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1744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AA4CF3D-E560-4568-A76C-37ADA4BD5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49" y="645437"/>
            <a:ext cx="5731908" cy="432264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380984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1990575" y="382425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 b="1">
                <a:latin typeface="Comic Sans MS"/>
                <a:ea typeface="Comic Sans MS"/>
                <a:cs typeface="Comic Sans MS"/>
                <a:sym typeface="Comic Sans MS"/>
              </a:rPr>
              <a:t>Thank You !</a:t>
            </a:r>
            <a:endParaRPr sz="6100"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163</TotalTime>
  <Words>119</Words>
  <Application>Microsoft Office PowerPoint</Application>
  <PresentationFormat>On-screen Show (16:9)</PresentationFormat>
  <Paragraphs>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Roboto</vt:lpstr>
      <vt:lpstr>Comic Sans MS</vt:lpstr>
      <vt:lpstr>Arial</vt:lpstr>
      <vt:lpstr>Wingdings</vt:lpstr>
      <vt:lpstr>Material</vt:lpstr>
      <vt:lpstr>Sales Forecasting Across Multiple Retail Stores.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Calculator Using Python and Tkinter</dc:title>
  <dc:creator>AVITA</dc:creator>
  <cp:lastModifiedBy>Pranita Ingle</cp:lastModifiedBy>
  <cp:revision>23</cp:revision>
  <dcterms:modified xsi:type="dcterms:W3CDTF">2025-11-20T18:22:51Z</dcterms:modified>
</cp:coreProperties>
</file>